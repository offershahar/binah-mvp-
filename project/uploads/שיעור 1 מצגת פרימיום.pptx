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16459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1888" y="0"/>
            <a:ext cx="3182112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פתרונות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בינה מלאכותית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בארגונים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32004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015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מושגי יסוד · ערך עסקי · אסטרטגיית הטמעה · ארכיטקטורה מערכתית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1 — מושגי יסוד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1938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2 — ארכיטקטורה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72200" y="25968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— מקרה בוחן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220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© סיכום מקיף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מושגי יסוד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ארבעה מושגי בסיס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647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2240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שכבה קוגניטיבית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5877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אינו רובוט שמחליף אדם. הוא שכבת תוכנה שמעצימה יכולות אנושיות קיימות בתוך תהליכי העבודה.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647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65192" y="2240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25877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למידת מכונה מסורתית — לומד תבניות מנתונים קיימים ומספק תחזיות: נטישת לקוחות, זיהוי הונאות.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192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" y="3794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41422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מודלי שפה ענקיים (LLM) — מייצר תוכן חדש מאפס: טקסט, קוד, תמונות. מנוע המהפכה הנוכחית.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3192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65192" y="37947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→ Autopilot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41422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היום: Copilot — הצעות שאדם מאשר. עתיד: סוכנים עצמאיים שמתכננים ומבצעים משימות אוטונומית.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ערך עסקי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שלושה עמודי ROI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77800" dist="63500" dir="27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18745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חיסכון בעלויות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צמצום משמעותי של משימות רפטטיביות ועבודה שחורה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77800" dist="635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3657600" y="2816352"/>
            <a:ext cx="18745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הגדלת הכנסות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פנייה מדויקת ללקוח בזמן הנכון, עם המסר הנכון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77800" dist="635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8745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6492240" y="2816352"/>
            <a:ext cx="18745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שיפור איכות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הפחתת שגיאות ועבודה רציפה מסביב לשעון, 365 יום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אינו Nice to Have — הוא צורך קיומי שמונע סטגנציה ומאפשר צמיחה אקספוננציאלית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אסטרטגיית הטמעה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תהליך ה-5 שלבים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1572768" cy="2926080"/>
          </a:xfrm>
          <a:prstGeom prst="roundRect">
            <a:avLst>
              <a:gd name="adj" fmla="val 407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810512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129844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94436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בעיה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זהה כאב עסקי אמיתי — לא טכנולוגיה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92808" y="2212848"/>
            <a:ext cx="146304" cy="128016"/>
          </a:xfrm>
          <a:prstGeom prst="rect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1691640"/>
            <a:ext cx="1572768" cy="2926080"/>
          </a:xfrm>
          <a:prstGeom prst="roundRect">
            <a:avLst>
              <a:gd name="adj" fmla="val 407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68296" y="1810512"/>
            <a:ext cx="914400" cy="914400"/>
          </a:xfrm>
          <a:prstGeom prst="ellipse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8296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7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176272" y="2852928"/>
            <a:ext cx="129844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294436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30552" y="33832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מקרה בוחן נקודתי: Quick Win ברור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2212848"/>
            <a:ext cx="146304" cy="128016"/>
          </a:xfrm>
          <a:prstGeom prst="rect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691640"/>
            <a:ext cx="1572768" cy="2926080"/>
          </a:xfrm>
          <a:prstGeom prst="roundRect">
            <a:avLst>
              <a:gd name="adj" fmla="val 407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87368" y="1810512"/>
            <a:ext cx="914400" cy="914400"/>
          </a:xfrm>
          <a:prstGeom prst="ellipse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87368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7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895344" y="2852928"/>
            <a:ext cx="129844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31336" y="294436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פיילוט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9624" y="33832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הרץ עם קבוצה נבחרת, תעד הכל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0952" y="2212848"/>
            <a:ext cx="146304" cy="128016"/>
          </a:xfrm>
          <a:prstGeom prst="rect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7256" y="1691640"/>
            <a:ext cx="1572768" cy="2926080"/>
          </a:xfrm>
          <a:prstGeom prst="roundRect">
            <a:avLst>
              <a:gd name="adj" fmla="val 407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06440" y="1810512"/>
            <a:ext cx="914400" cy="914400"/>
          </a:xfrm>
          <a:prstGeom prst="ellipse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7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5614416" y="2852928"/>
            <a:ext cx="129844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0408" y="294436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68696" y="33832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מדוד: שעות, שגיאות, הכנסות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50024" y="2212848"/>
            <a:ext cx="146304" cy="128016"/>
          </a:xfrm>
          <a:prstGeom prst="rect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1691640"/>
            <a:ext cx="1572768" cy="2926080"/>
          </a:xfrm>
          <a:prstGeom prst="roundRect">
            <a:avLst>
              <a:gd name="adj" fmla="val 407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25512" y="1810512"/>
            <a:ext cx="914400" cy="914400"/>
          </a:xfrm>
          <a:prstGeom prst="ellipse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25512" y="18105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7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7333488" y="2852928"/>
            <a:ext cx="129844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94436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87768" y="338328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 לאחר הוכחת ערך בלבד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הטעות הנפוצה: לקפוץ ישר לפיתוח מבלי להגדיר איזה כאב עסקי רוצים לפתור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בחירת Use Case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ארבעה קריטריונים לניצחון מהיר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099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98448" y="1792224"/>
            <a:ext cx="10973" cy="420624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190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בעיה ברורה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20208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שיוצר כרגע עומס אמיתי או צוואר בקבוק — כאב שניתן לנמֵּק ולמדוד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054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98448" y="2587752"/>
            <a:ext cx="10973" cy="420624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5146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תהליך חוזר · Scale גבוה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63040" y="2816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שחוזרת על עצמה תכופות — כל ייעול שלה ייצור השפעה רחבה ומהירה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30098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98448" y="3383280"/>
            <a:ext cx="10973" cy="420624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3101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דאטה זמין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611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קיימים נתונים נגישים שניתן לאסוף, לנקות ולהשתמש בהם כבסיס לאימון ולהפעלה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409651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98448" y="4178808"/>
            <a:ext cx="10973" cy="420624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41056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מדיד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63040" y="4407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למדוד את הערך שייווצר: חיסכון שעות, הפחתת שגיאות, עלייה בהמרות — מספרים ברורים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ארכיטקטורה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שרשרת התחנות המודולרית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298448" cy="2834640"/>
          </a:xfrm>
          <a:prstGeom prst="roundRect">
            <a:avLst>
              <a:gd name="adj" fmla="val 4930"/>
            </a:avLst>
          </a:prstGeom>
          <a:solidFill>
            <a:srgbClr val="2A2A2A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55648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קלט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706624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קבלת הבקשה מהמשתמש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572768" y="2157984"/>
            <a:ext cx="146304" cy="146304"/>
          </a:xfrm>
          <a:prstGeom prst="ellipse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691640"/>
            <a:ext cx="1298448" cy="2834640"/>
          </a:xfrm>
          <a:prstGeom prst="roundRect">
            <a:avLst>
              <a:gd name="adj" fmla="val 493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10512" y="1755648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1874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הבנה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9072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10512" y="2606040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92224" y="2706624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כוונה ע"י מודל 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7520" y="2157984"/>
            <a:ext cx="146304" cy="146304"/>
          </a:xfrm>
          <a:prstGeom prst="ellipse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3824" y="1691640"/>
            <a:ext cx="1298448" cy="2834640"/>
          </a:xfrm>
          <a:prstGeom prst="roundRect">
            <a:avLst>
              <a:gd name="adj" fmla="val 493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55264" y="1755648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874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ידע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63824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/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55264" y="2606040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2706624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שליפה ממאגר ארגוני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62272" y="2157984"/>
            <a:ext cx="146304" cy="146304"/>
          </a:xfrm>
          <a:prstGeom prst="ellipse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1691640"/>
            <a:ext cx="1298448" cy="2834640"/>
          </a:xfrm>
          <a:prstGeom prst="roundRect">
            <a:avLst>
              <a:gd name="adj" fmla="val 493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1755648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1874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החלטה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08576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606040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706624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אוטומטי או Human Loop?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07024" y="2157984"/>
            <a:ext cx="146304" cy="146304"/>
          </a:xfrm>
          <a:prstGeom prst="ellipse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1691640"/>
            <a:ext cx="1298448" cy="2834640"/>
          </a:xfrm>
          <a:prstGeom prst="roundRect">
            <a:avLst>
              <a:gd name="adj" fmla="val 493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1755648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1874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פעולה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53328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44768" y="2606040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706624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מענה או הסלמה לנציג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51776" y="2157984"/>
            <a:ext cx="146304" cy="146304"/>
          </a:xfrm>
          <a:prstGeom prst="ellipse">
            <a:avLst/>
          </a:prstGeom>
          <a:solidFill>
            <a:srgbClr val="8A6E2E"/>
          </a:solidFill>
          <a:ln w="12700">
            <a:solidFill>
              <a:srgbClr val="8A6E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1691640"/>
            <a:ext cx="1298448" cy="2834640"/>
          </a:xfrm>
          <a:prstGeom prst="roundRect">
            <a:avLst>
              <a:gd name="adj" fmla="val 4930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9520" y="1755648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18745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תיעוד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98080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2606040"/>
            <a:ext cx="1115568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71232" y="2706624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שמירה לבקרה ושיפור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פירוק מודולרי: כל שגיאה מזוהה בדיוק בתחנה שלה — לא "המערכת נשברה"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עקרונות הנדסיים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חמישה עקרונות חשיבה מערכתית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6824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70432" y="1773936"/>
            <a:ext cx="10973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700784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בהירות מטרה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 יעד עסקי ברור ובר-מדידה לפני שנוגעים ב-AI — ללא יעד אין כיוון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3591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70432" y="2450592"/>
            <a:ext cx="10973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237744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פירוק למודולים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264261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בנה יחידות קטנות ועצמאיות — כל תחנה ניתנת לבדיקה, לתחזוקה ולהחלפה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30358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70432" y="3127248"/>
            <a:ext cx="10973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054096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זרימת מידע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98448" y="331927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הרשאות קפדני + וידוא שהדאטה המוזן מעודכן, נקי ומדויק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7124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70432" y="3803904"/>
            <a:ext cx="10973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73075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98448" y="39959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 קווים אדומים (PII, רגישויות) — המערכת עוצרת ומעבירה לאדם באופן אוטומטי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43891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70432" y="4480560"/>
            <a:ext cx="10973" cy="347472"/>
          </a:xfrm>
          <a:prstGeom prst="rect">
            <a:avLst/>
          </a:prstGeom>
          <a:solidFill>
            <a:srgbClr val="3A3830"/>
          </a:solidFill>
          <a:ln w="12700">
            <a:solidFill>
              <a:srgbClr val="3A3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4407408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שיפור מתמשך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98448" y="467258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הוא תהליך מעגלי — איסוף משוב, מדידה ואופטימיזציה לא נפסקים לעולם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2112" y="0"/>
            <a:ext cx="16459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82112" cy="51435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2560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2984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קודם הבעיה,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אחר כך הטכנולוגיה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" y="2148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" y="2606040"/>
            <a:ext cx="2560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7157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משפר תהליכים —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לא מחליף אותם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2880" y="3566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" y="4023360"/>
            <a:ext cx="256032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13308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 —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אדם בוחן ומאשר תמיד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5943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09728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שלושה</a:t>
            </a:r>
            <a:endParaRPr lang="en-US" sz="5200" dirty="0"/>
          </a:p>
          <a:p>
            <a:pPr algn="r"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דברים</a:t>
            </a:r>
            <a:endParaRPr lang="en-US" sz="5200" dirty="0"/>
          </a:p>
          <a:p>
            <a:pPr algn="r" indent="0" marL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לזכור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3429000" y="3520440"/>
            <a:ext cx="5212080" cy="164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657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המוכנים לשיעור הבא — הגיעו עם Use Case ראשון מהארגון שלכם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6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2026-06-11T04:14:52Z</dcterms:created>
  <dcterms:modified xsi:type="dcterms:W3CDTF">2026-06-11T04:14:52Z</dcterms:modified>
</cp:coreProperties>
</file>