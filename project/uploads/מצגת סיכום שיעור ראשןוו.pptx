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C2A8">
              <a:alpha val="18000"/>
            </a:srgbClr>
          </a:solidFill>
          <a:ln w="12700">
            <a:solidFill>
              <a:srgbClr val="00C2A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A3460">
              <a:alpha val="60000"/>
            </a:srgbClr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בארגונים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פתרונות בינה מלאכותית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בארגונים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מושגי יסוד · ערך עסקי · אסטרטגיית הטמעה · חשיבה מערכתית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A346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מושגי יסוד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34747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A346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34747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A346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הטמעה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34747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A346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47472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A3460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389120"/>
            <a:ext cx="822960" cy="8229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4480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שיעורים 1–2 | סיכום מקיף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מושגי יסוד ב-AI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1430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3192" y="1371600"/>
            <a:ext cx="640080" cy="64008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09160" y="114300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73752" y="1371600"/>
            <a:ext cx="640080" cy="640080"/>
          </a:xfrm>
          <a:prstGeom prst="ellipse">
            <a:avLst/>
          </a:prstGeom>
          <a:solidFill>
            <a:srgbClr val="0A5E6A"/>
          </a:solidFill>
          <a:ln w="12700">
            <a:solidFill>
              <a:srgbClr val="0A5E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" y="29260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3192" y="3154680"/>
            <a:ext cx="640080" cy="640080"/>
          </a:xfrm>
          <a:prstGeom prst="ellipse">
            <a:avLst/>
          </a:prstGeom>
          <a:solidFill>
            <a:srgbClr val="1A3460"/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9260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73752" y="3154680"/>
            <a:ext cx="640080" cy="640080"/>
          </a:xfrm>
          <a:prstGeom prst="ellipse">
            <a:avLst/>
          </a:prstGeom>
          <a:solidFill>
            <a:srgbClr val="0A5E6A"/>
          </a:solidFill>
          <a:ln w="12700">
            <a:solidFill>
              <a:srgbClr val="0A5E6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שכבה קוגניטיבית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3192" y="1783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אינו רובוט שמחליף אדם – הוא שכבת תוכנה שמעצימה יכולות אנושיות קיימות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417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73752" y="1783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למידת מכונה מסורתית: לומד תבניות מנתונים קיימים ומספק תחזיות (נטישת לקוחות, הונאות)</a:t>
            </a:r>
            <a:endParaRPr lang="en-US" sz="11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004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93192" y="35661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 LLM: מייצר תוכן חדש מאפס – טקסט, קוד, תמונות. מנוע המהפכה הנוכחית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20040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6928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vs Autopilot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873752" y="35661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כיום: Copilot (עוזר שטיוטאותיו מאושרות ע"י אדם). עתיד: Autopilot – סוכנים עצמאיים לחלוטין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ערך עסקי ו-ROI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AI הוא הכרח תחרותי – לא מותרות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600200"/>
            <a:ext cx="914400" cy="914400"/>
          </a:xfrm>
          <a:prstGeom prst="ellipse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691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הפחתת עלויות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צמצום משמעותי של משימות רפטטיביות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30-50%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1148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חיסכון בשעות עבודה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1600200"/>
            <a:ext cx="914400" cy="914400"/>
          </a:xfrm>
          <a:prstGeom prst="ellipse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הגדלת הכנסות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33756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פנייה מדויקת ללקוח בטיימינג הנכון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15-25%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33756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עלייה בהמרות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40880" y="1600200"/>
            <a:ext cx="914400" cy="914400"/>
          </a:xfrm>
          <a:prstGeom prst="ellipse">
            <a:avLst/>
          </a:prstGeom>
          <a:solidFill>
            <a:srgbClr val="00C2A8">
              <a:alpha val="80000"/>
            </a:srgbClr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651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שיפור איכות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263640" y="3090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מוחלט ועבודה רציפה 24/7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63640" y="3657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40-60%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6263640" y="4160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הפחתת שגיאות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20000"/>
            </a:avLst>
          </a:prstGeom>
          <a:solidFill>
            <a:srgbClr val="162D5A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AI אינו בגדר Nice to Have – הוא צורך קיומי שמונע סטגנציה ומאפשר צמיחה אקספוננציאלית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הטמעה: 5 השלבים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72768" cy="3291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325880"/>
            <a:ext cx="914400" cy="914400"/>
          </a:xfrm>
          <a:prstGeom prst="ellipse">
            <a:avLst/>
          </a:prstGeom>
          <a:solidFill>
            <a:srgbClr val="0F5E8C"/>
          </a:solidFill>
          <a:ln w="12700">
            <a:solidFill>
              <a:srgbClr val="0F5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2377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זיהוי הבעיה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אתר כאב עסקי אמיתי – קודם הבעיה, אחר כך הטכנולוגיה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47088" y="2331720"/>
            <a:ext cx="146304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188720"/>
            <a:ext cx="1572768" cy="3291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22576" y="1325880"/>
            <a:ext cx="914400" cy="914400"/>
          </a:xfrm>
          <a:prstGeom prst="ellipse">
            <a:avLst/>
          </a:prstGeom>
          <a:solidFill>
            <a:srgbClr val="0A7A7A"/>
          </a:solidFill>
          <a:ln w="12700">
            <a:solidFill>
              <a:srgbClr val="0A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66544" y="2377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 מקרה בוחן נקודתי שיהווה Quick Win ברור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2331720"/>
            <a:ext cx="146304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188720"/>
            <a:ext cx="1572768" cy="3291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41648" y="1325880"/>
            <a:ext cx="914400" cy="914400"/>
          </a:xfrm>
          <a:prstGeom prst="ellipse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85616" y="2377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פיילוט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3904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 פיילוט ממוקד עם משתמשים נבחרים ותיעוד מדויק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85232" y="2331720"/>
            <a:ext cx="146304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188720"/>
            <a:ext cx="1572768" cy="3291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1325880"/>
            <a:ext cx="914400" cy="914400"/>
          </a:xfrm>
          <a:prstGeom prst="ellipse">
            <a:avLst/>
          </a:prstGeom>
          <a:solidFill>
            <a:srgbClr val="7A5A00"/>
          </a:solidFill>
          <a:ln w="12700">
            <a:solidFill>
              <a:srgbClr val="7A5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504688" y="2377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מדידת ROI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2976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מדוד את התוצאות, החיסכון ושיפור האיכות בצורה מספרית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04304" y="2331720"/>
            <a:ext cx="146304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188720"/>
            <a:ext cx="1572768" cy="3291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79792" y="1325880"/>
            <a:ext cx="914400" cy="914400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223760" y="2377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42048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הרחב לכלל הארגון רק לאחר הוכחת ערך בפיילוט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12700">
            <a:solidFill>
              <a:srgbClr val="B8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הטעות הנפוצה: לקפוץ ישר לפיתוח מבלי להגדיר איזה כאב עסקי רוצים לפתור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קריטריונים ל-Use Case מנצח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תנאים לבחירת מקרה הבוחן הראשון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860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32004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" y="411480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1148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27048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83080" y="1399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בעיה ברורה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83080" y="17556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תהליך שיוצר כרגע עומס אמיתי או צוואר בקבוק בארגון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35584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32278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דאטה זמין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783080" y="35844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קיימים נתונים נגישים לאיסוף ועל בסיסם ניתן לאמן ולהפעיל את המערכת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2702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1422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מדיד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783080" y="44988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למדוד את הערך שייווצר: חיסכון שעות, הפחתת שגיאות, עלייה במכירות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414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2313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חוזר (Scale גבוה)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83080" y="26700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 שחוזרת על עצמה תכופות – כל ייעול שלה ייצור השפעה רחבה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האנטומיה של מערכת 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0F5E8C"/>
          </a:solidFill>
          <a:ln w="12700">
            <a:solidFill>
              <a:srgbClr val="0F5E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1298448" cy="237744"/>
          </a:xfrm>
          <a:prstGeom prst="rect">
            <a:avLst/>
          </a:prstGeom>
          <a:solidFill>
            <a:srgbClr val="0F5E8C"/>
          </a:solidFill>
          <a:ln w="12700">
            <a:solidFill>
              <a:srgbClr val="0F5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קלט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קבלת הבקשה מהמשתמש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72768" y="2286000"/>
            <a:ext cx="1463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19072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19072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1554480"/>
            <a:ext cx="1298448" cy="237744"/>
          </a:xfrm>
          <a:prstGeom prst="rect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הבנה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כוונת המשתמש ע"י מודל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2286000"/>
            <a:ext cx="1463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3824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3824" y="1554480"/>
            <a:ext cx="1298448" cy="237744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ידע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63824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6976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שליפה ממאגר נתונים ארגוני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62272" y="2286000"/>
            <a:ext cx="1463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8576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8A5500"/>
          </a:solidFill>
          <a:ln w="12700">
            <a:solidFill>
              <a:srgbClr val="8A5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1554480"/>
            <a:ext cx="1298448" cy="237744"/>
          </a:xfrm>
          <a:prstGeom prst="rect">
            <a:avLst/>
          </a:prstGeom>
          <a:solidFill>
            <a:srgbClr val="8A5500"/>
          </a:solidFill>
          <a:ln w="12700">
            <a:solidFill>
              <a:srgbClr val="8A5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החלטה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8576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אוטומטי או Human-in-Loop?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07024" y="2286000"/>
            <a:ext cx="1463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8A2020"/>
          </a:solidFill>
          <a:ln w="12700">
            <a:solidFill>
              <a:srgbClr val="8A20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53328" y="1554480"/>
            <a:ext cx="1298448" cy="237744"/>
          </a:xfrm>
          <a:prstGeom prst="rect">
            <a:avLst/>
          </a:prstGeom>
          <a:solidFill>
            <a:srgbClr val="8A2020"/>
          </a:solidFill>
          <a:ln w="12700">
            <a:solidFill>
              <a:srgbClr val="8A2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53328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פעולה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53328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מתן מענה או הסלמה לנציג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51776" y="2286000"/>
            <a:ext cx="1463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1143000"/>
            <a:ext cx="1298448" cy="32004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1143000"/>
            <a:ext cx="1298448" cy="640080"/>
          </a:xfrm>
          <a:prstGeom prst="roundRect">
            <a:avLst>
              <a:gd name="adj" fmla="val 14286"/>
            </a:avLst>
          </a:prstGeom>
          <a:solidFill>
            <a:srgbClr val="5A1080"/>
          </a:solidFill>
          <a:ln w="12700">
            <a:solidFill>
              <a:srgbClr val="5A10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1554480"/>
            <a:ext cx="1298448" cy="237744"/>
          </a:xfrm>
          <a:prstGeom prst="rect">
            <a:avLst/>
          </a:prstGeom>
          <a:solidFill>
            <a:srgbClr val="5A1080"/>
          </a:solidFill>
          <a:ln w="12700">
            <a:solidFill>
              <a:srgbClr val="5A10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118872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תיעוד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98080" y="1508760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1232" y="1920240"/>
            <a:ext cx="1152144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שמירה לבקרה ושיפור מתמשך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0EEF8"/>
          </a:solidFill>
          <a:ln w="12700">
            <a:solidFill>
              <a:srgbClr val="B0C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פירוק מודולרי מבטיח: אם יש שגיאה, נדע בדיוק באיזה שלב היא התרחשה ונתקן נקודתית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עקרונות החשיבה ההנדסית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704088"/>
          </a:xfrm>
          <a:prstGeom prst="roundRect">
            <a:avLst>
              <a:gd name="adj" fmla="val 12987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01000" y="1042416"/>
            <a:ext cx="621792" cy="621792"/>
          </a:xfrm>
          <a:prstGeom prst="ellipse">
            <a:avLst/>
          </a:prstGeom>
          <a:solidFill>
            <a:srgbClr val="0F5E8C"/>
          </a:solidFill>
          <a:ln w="12700">
            <a:solidFill>
              <a:srgbClr val="0F5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104241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בהירות מטרה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 יעד עסקי ברור ובר-מדידה לפני שנוגעים ב-AI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8595360" cy="704088"/>
          </a:xfrm>
          <a:prstGeom prst="roundRect">
            <a:avLst>
              <a:gd name="adj" fmla="val 12987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01000" y="1847088"/>
            <a:ext cx="621792" cy="621792"/>
          </a:xfrm>
          <a:prstGeom prst="ellipse">
            <a:avLst/>
          </a:prstGeom>
          <a:solidFill>
            <a:srgbClr val="0A6E6E"/>
          </a:solidFill>
          <a:ln w="12700">
            <a:solidFill>
              <a:srgbClr val="0A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8470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פירוק למודולים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בנה יחידות קטנות ועצמאיות – קלות לתחזוקה ולתיקון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8595360" cy="704088"/>
          </a:xfrm>
          <a:prstGeom prst="roundRect">
            <a:avLst>
              <a:gd name="adj" fmla="val 12987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2651760"/>
            <a:ext cx="621792" cy="621792"/>
          </a:xfrm>
          <a:prstGeom prst="ellipse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651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זרימת מידע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95351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הרשאות קפדני + וידוא שהדאטה מעודכן ומדויק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8595360" cy="704088"/>
          </a:xfrm>
          <a:prstGeom prst="roundRect">
            <a:avLst>
              <a:gd name="adj" fmla="val 12987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3456432"/>
            <a:ext cx="621792" cy="621792"/>
          </a:xfrm>
          <a:prstGeom prst="ellipse">
            <a:avLst/>
          </a:prstGeom>
          <a:solidFill>
            <a:srgbClr val="7A5000"/>
          </a:solidFill>
          <a:ln w="12700">
            <a:solidFill>
              <a:srgbClr val="7A5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456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456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5818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קווים אדומים: PII, רגישויות – העברה אוטומטית לאדם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224528"/>
            <a:ext cx="8595360" cy="704088"/>
          </a:xfrm>
          <a:prstGeom prst="roundRect">
            <a:avLst>
              <a:gd name="adj" fmla="val 12987"/>
            </a:avLst>
          </a:prstGeom>
          <a:solidFill>
            <a:srgbClr val="1A3460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4261104"/>
            <a:ext cx="621792" cy="621792"/>
          </a:xfrm>
          <a:prstGeom prst="ellipse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42611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שיפור מתמשך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6285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הוא תהליך מעגלי – איסוף משוב ואופטימיזציה תמידית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A3460">
              <a:alpha val="70000"/>
            </a:srgbClr>
          </a:solidFill>
          <a:ln w="12700">
            <a:solidFill>
              <a:srgbClr val="1A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עקרונות לזכור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הסיכום שיוביל אותך לשיעור הבא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162D5A"/>
          </a:solidFill>
          <a:ln/>
          <a:effectLst>
            <a:outerShdw sx="100000" sy="100000" kx="0" ky="0" algn="bl" rotWithShape="0" blurRad="127000" dist="3810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1572768"/>
            <a:ext cx="658368" cy="6583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530352" cy="5303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44752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קודם הבעיה, אחר כך הטכנולוגיה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88720" y="182880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הטעות הנפוצה: קפיצה לפיתוח מבלי להגדיר את הכאב העסקי המדויק שרוצים לפתור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578608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162D5A"/>
          </a:solidFill>
          <a:ln/>
          <a:effectLst>
            <a:outerShdw sx="100000" sy="100000" kx="0" ky="0" algn="bl" rotWithShape="0" blurRad="127000" dist="381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0" y="2779776"/>
            <a:ext cx="658368" cy="6583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7797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34640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65176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אינו מחליף תהליכים – הוא משפר אותם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188720" y="3035808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AI יושבות על שרשרת הערך הקיימת ומעצימות אותה – לא מחליפות אותה מאפס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3785616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162D5A"/>
          </a:solidFill>
          <a:ln/>
          <a:effectLst>
            <a:outerShdw sx="100000" sy="100000" kx="0" ky="0" algn="bl" rotWithShape="0" blurRad="127000" dist="38100" dir="27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0" y="3986784"/>
            <a:ext cx="658368" cy="65836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0" y="39867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41648"/>
            <a:ext cx="530352" cy="5303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3858768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188720" y="424281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 הופך למבקר, בוחן ומאשר של התוצרים. שיתוף פעולה בין אדם למכונה – לא תחרות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המוכנים לשיעור הבא יגיעו עם Use Case ראשון מהארגון שלהם!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בארגונים</dc:title>
  <dc:subject>PptxGenJS Presentation</dc:subject>
  <dc:creator>PptxGenJS</dc:creator>
  <cp:lastModifiedBy>PptxGenJS</cp:lastModifiedBy>
  <cp:revision>1</cp:revision>
  <dcterms:created xsi:type="dcterms:W3CDTF">2026-06-11T04:04:26Z</dcterms:created>
  <dcterms:modified xsi:type="dcterms:W3CDTF">2026-06-11T04:04:26Z</dcterms:modified>
</cp:coreProperties>
</file>