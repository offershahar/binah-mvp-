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פתחו בהצגת הלוגו וה-tagline. הדגישו שזה AI לכל שלב בלמידה — מהמורה ועד לתלמיד.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בינה היא פלטפורמה מוכנה לעולם הארגוני — לא רק כלי, אלא תשתית מלאה ללמידת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ממשקים שונים לחלוטין — אך מחוברים לאותה מערכת. כל תפקיד רואה רק מה שרלוונטי לו.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אלה ה-4 יתרונות שצריך להדגיש. שבי הוא ה-wow moment — הדגם בפועל אם אפשר.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נושא קריטי לדירקטוריון. הדגישו שהתוכן הוא IP של המכללה ומוגן בשכבות מרובות.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ה-Pro Plan הוא לב ההכנסות. Enterprise לחברות גדולות עם White Label — פוטנציאל ענק.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הדגישו ש-21 המסכים כבר קיימים כ-UI מלא. Backend הוא הצעד הבא הקריטי.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סגרו עם קריאה ברורה לפעולה. הציעו demo חי של שבי ו-Studio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338CA">
              <a:alpha val="35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C3A8EE">
              <a:alpha val="20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27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199" y="777240"/>
            <a:ext cx="311810" cy="0"/>
          </a:xfrm>
          <a:prstGeom prst="line">
            <a:avLst/>
          </a:prstGeom>
          <a:noFill/>
          <a:ln w="31496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627644"/>
            <a:ext cx="0" cy="317480"/>
          </a:xfrm>
          <a:prstGeom prst="line">
            <a:avLst/>
          </a:prstGeom>
          <a:noFill/>
          <a:ln w="31496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457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בִּינָה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52728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FB4F5"/>
                </a:solidFill>
              </a:rPr>
              <a:t>AI ACADEMY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7620">
            <a:solidFill>
              <a:srgbClr val="9FB4F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מצגת דירקטוריון — יוני 2026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FB4F5"/>
                </a:solidFill>
              </a:rPr>
              <a:t>פלטפורמת לימוד AI מבוססת בינה מלאכותית — מסוף המורה ועד לסטודנט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3760" y="379476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9FB4F5">
              <a:alpha val="20000"/>
            </a:srgbClr>
          </a:solidFill>
          <a:ln w="12700">
            <a:solidFill>
              <a:srgbClr val="9FB4F5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F5"/>
                </a:solidFill>
              </a:rPr>
              <a:t>מסכים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79476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9FB4F5">
              <a:alpha val="20000"/>
            </a:srgbClr>
          </a:solidFill>
          <a:ln w="12700">
            <a:solidFill>
              <a:srgbClr val="9FB4F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F5"/>
                </a:solidFill>
              </a:rPr>
              <a:t>תפקידים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79476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9FB4F5">
              <a:alpha val="20000"/>
            </a:srgbClr>
          </a:solidFill>
          <a:ln w="12700">
            <a:solidFill>
              <a:srgbClr val="9FB4F5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3464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F5"/>
                </a:solidFill>
              </a:rPr>
              <a:t>לכל שלב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9FB4F5">
              <a:alpha val="20000"/>
            </a:srgbClr>
          </a:solidFill>
          <a:ln w="12700">
            <a:solidFill>
              <a:srgbClr val="9FB4F5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DRM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F5"/>
                </a:solidFill>
              </a:rPr>
              <a:t>הגנת 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3A8EE">
              <a:alpha val="18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6C99A">
              <a:alpha val="15000"/>
            </a:srgbClr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1B4B"/>
                </a:solidFill>
              </a:rPr>
              <a:t>סיכום מנהלים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A7A92"/>
                </a:solidFill>
              </a:rPr>
              <a:t>בינה AI Academy בקצרה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FB4F5">
              <a:alpha val="80000"/>
            </a:srgbClr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מה אנחנו?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" y="2331720"/>
            <a:ext cx="2359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E2E48"/>
                </a:solidFill>
              </a:rPr>
              <a:t>פלטפורמת לימוד AI מלאה בעברית — כולל קורסים מותאמים אישית, סרטוני הסבר AI, מבחנים, ושידורים חיים עם כלים מקצועיים.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170432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6C99A">
              <a:alpha val="80000"/>
            </a:srgbClr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65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ההזדמנות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2331720"/>
            <a:ext cx="2359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E2E48"/>
                </a:solidFill>
              </a:rPr>
              <a:t>שוק ה-EdTech הישראלי עולה על ₪1.2 מיליארד. ביקוש גדל ב-38% משנת 2024. בינה ממוצבת כפתרון Enterprise לחברות וארגונים.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170432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3A8EE">
              <a:alpha val="80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965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הבידול שלנו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6792" y="2331720"/>
            <a:ext cx="2359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E2E48"/>
                </a:solidFill>
              </a:rPr>
              <a:t>שבי — AI assistant מחובר לנתונים בזמן אמת, Studio AI לייצור תוכן, DRM מלא עם Watermark, ומעקב התקדמות per-תלמיד.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3A8EE">
              <a:alpha val="18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6C99A">
              <a:alpha val="15000"/>
            </a:srgbClr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המוצר — שלושה תפקידים, עולם אחד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A7A92"/>
                </a:solidFill>
              </a:rPr>
              <a:t>כל משתמש מקבל ממשק מותאם לתפקידו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651760" cy="3547872"/>
          </a:xfrm>
          <a:prstGeom prst="roundRect">
            <a:avLst>
              <a:gd name="adj" fmla="val 4828"/>
            </a:avLst>
          </a:prstGeom>
          <a:solidFill>
            <a:srgbClr val="EEF2FF"/>
          </a:solidFill>
          <a:ln w="15240">
            <a:solidFill>
              <a:srgbClr val="9FB4F5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64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תלמיד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לוח קורסים + Progress 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2468880"/>
            <a:ext cx="2331720" cy="0"/>
          </a:xfrm>
          <a:prstGeom prst="line">
            <a:avLst/>
          </a:prstGeom>
          <a:noFill/>
          <a:ln w="6350">
            <a:solidFill>
              <a:srgbClr val="9FB4F5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054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תרגום מנוהל ע"י מרצה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825496"/>
            <a:ext cx="2331720" cy="0"/>
          </a:xfrm>
          <a:prstGeom prst="line">
            <a:avLst/>
          </a:prstGeom>
          <a:noFill/>
          <a:ln w="6350">
            <a:solidFill>
              <a:srgbClr val="9FB4F5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620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מבחנים מתוזמנים עם נעילה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182112"/>
            <a:ext cx="2331720" cy="0"/>
          </a:xfrm>
          <a:prstGeom prst="line">
            <a:avLst/>
          </a:prstGeom>
          <a:noFill/>
          <a:ln w="6350">
            <a:solidFill>
              <a:srgbClr val="9FB4F5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186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Live Assist — איתות שקט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3538728"/>
            <a:ext cx="2331720" cy="0"/>
          </a:xfrm>
          <a:prstGeom prst="line">
            <a:avLst/>
          </a:prstGeom>
          <a:noFill/>
          <a:ln w="6350">
            <a:solidFill>
              <a:srgbClr val="9FB4F5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5753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FocusSound — ריכוז Binaural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3895344"/>
            <a:ext cx="2331720" cy="0"/>
          </a:xfrm>
          <a:prstGeom prst="line">
            <a:avLst/>
          </a:prstGeom>
          <a:noFill/>
          <a:ln w="6350">
            <a:solidFill>
              <a:srgbClr val="9FB4F5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931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צ'אט ישיר עם המרצה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1115568"/>
            <a:ext cx="2651760" cy="3547872"/>
          </a:xfrm>
          <a:prstGeom prst="roundRect">
            <a:avLst>
              <a:gd name="adj" fmla="val 4828"/>
            </a:avLst>
          </a:prstGeom>
          <a:solidFill>
            <a:srgbClr val="ECFDF5"/>
          </a:solidFill>
          <a:ln w="15240">
            <a:solidFill>
              <a:srgbClr val="46C99A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64992" y="12618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764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מרצה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64992" y="2148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קונסולת ניהול תלמידים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468880"/>
            <a:ext cx="2331720" cy="0"/>
          </a:xfrm>
          <a:prstGeom prst="line">
            <a:avLst/>
          </a:prstGeom>
          <a:noFill/>
          <a:ln w="6350">
            <a:solidFill>
              <a:srgbClr val="46C99A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5054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Studio AI — LLM→TTS→Video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2825496"/>
            <a:ext cx="2331720" cy="0"/>
          </a:xfrm>
          <a:prstGeom prst="line">
            <a:avLst/>
          </a:prstGeom>
          <a:noFill/>
          <a:ln w="6350">
            <a:solidFill>
              <a:srgbClr val="46C99A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8620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Lesson Builder + מאגר חומרים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3182112"/>
            <a:ext cx="2331720" cy="0"/>
          </a:xfrm>
          <a:prstGeom prst="line">
            <a:avLst/>
          </a:prstGeom>
          <a:noFill/>
          <a:ln w="6350">
            <a:solidFill>
              <a:srgbClr val="46C99A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2186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שידור חי + גרפיקות real-time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4992" y="3538728"/>
            <a:ext cx="2331720" cy="0"/>
          </a:xfrm>
          <a:prstGeom prst="line">
            <a:avLst/>
          </a:prstGeom>
          <a:noFill/>
          <a:ln w="6350">
            <a:solidFill>
              <a:srgbClr val="46C99A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5753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שבי — עוזר AI מחובר לנתונים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64992" y="3895344"/>
            <a:ext cx="2331720" cy="0"/>
          </a:xfrm>
          <a:prstGeom prst="line">
            <a:avLst/>
          </a:prstGeom>
          <a:noFill/>
          <a:ln w="6350">
            <a:solidFill>
              <a:srgbClr val="46C99A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931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Teams — עבודה שיתופית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1115568"/>
            <a:ext cx="2651760" cy="3547872"/>
          </a:xfrm>
          <a:prstGeom prst="roundRect">
            <a:avLst>
              <a:gd name="adj" fmla="val 4828"/>
            </a:avLst>
          </a:prstGeom>
          <a:solidFill>
            <a:srgbClr val="FFFBEB"/>
          </a:solidFill>
          <a:ln w="15240">
            <a:solidFill>
              <a:srgbClr val="FFD08A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9632" y="12618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D08A"/>
          </a:solidFill>
          <a:ln w="12700">
            <a:solidFill>
              <a:srgbClr val="FFD08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1764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מנהל המכללה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9632" y="2148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ניהול מרצים + הרשאות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2468880"/>
            <a:ext cx="2331720" cy="0"/>
          </a:xfrm>
          <a:prstGeom prst="line">
            <a:avLst/>
          </a:prstGeom>
          <a:noFill/>
          <a:ln w="6350">
            <a:solidFill>
              <a:srgbClr val="FFD08A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25054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מנויים + חשבוניות ישראליות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9632" y="2825496"/>
            <a:ext cx="2331720" cy="0"/>
          </a:xfrm>
          <a:prstGeom prst="line">
            <a:avLst/>
          </a:prstGeom>
          <a:noFill/>
          <a:ln w="6350">
            <a:solidFill>
              <a:srgbClr val="FFD08A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8620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אבטחה: 2FA, DRM, Signed URLs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3182112"/>
            <a:ext cx="2331720" cy="0"/>
          </a:xfrm>
          <a:prstGeom prst="line">
            <a:avLst/>
          </a:prstGeom>
          <a:noFill/>
          <a:ln w="6350">
            <a:solidFill>
              <a:srgbClr val="FFD08A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2186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System Health + Self-Healing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9632" y="3538728"/>
            <a:ext cx="2331720" cy="0"/>
          </a:xfrm>
          <a:prstGeom prst="line">
            <a:avLst/>
          </a:prstGeom>
          <a:noFill/>
          <a:ln w="6350">
            <a:solidFill>
              <a:srgbClr val="FFD08A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5753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Audit Log + Session Control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99632" y="3895344"/>
            <a:ext cx="2331720" cy="0"/>
          </a:xfrm>
          <a:prstGeom prst="line">
            <a:avLst/>
          </a:prstGeom>
          <a:noFill/>
          <a:ln w="6350">
            <a:solidFill>
              <a:srgbClr val="FFD08A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931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  חוזים + IP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338CA">
              <a:alpha val="35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C3A8EE">
              <a:alpha val="20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הבידול שלנו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FB4F5"/>
                </a:solidFill>
              </a:rPr>
              <a:t>מה שאין לאף מתחרה בשוק הישראלי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170432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312E81">
              <a:alpha val="80000"/>
            </a:srgbClr>
          </a:solidFill>
          <a:ln w="15240">
            <a:solidFill>
              <a:srgbClr val="9FB4F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25400" dir="2700000">
              <a:srgbClr val="9FB4F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10328" y="13533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שבי — AI חי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0328" y="2066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מחובר לנתוני התלמידים בזמן אמת. עונה לשאלות כמו 'מי מפגר?' ו'מה ציון הכיתה?' ישירות מה-DB.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170432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312E81">
              <a:alpha val="80000"/>
            </a:srgbClr>
          </a:solidFill>
          <a:ln w="15240">
            <a:solidFill>
              <a:srgbClr val="46C99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25400" dir="2700000">
              <a:srgbClr val="46C99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" y="13533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Studio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" y="2066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Pipeline אוטומטי: תסריט ← LLM ← TTS (נועה/איתי/מאיה) ← Text-to-Video. ייצור תוכן בדקות.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907792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312E81">
              <a:alpha val="80000"/>
            </a:srgbClr>
          </a:solidFill>
          <a:ln w="15240">
            <a:solidFill>
              <a:srgbClr val="C3A8EE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25400" dir="2700000">
              <a:srgbClr val="C3A8E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0328" y="30906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DRM + Watermark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38039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Signed URLs שפגות תוך דקות. Watermark דינמי עם שם התלמיד. 2FA מחייב. Session limit.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907792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312E81">
              <a:alpha val="80000"/>
            </a:srgbClr>
          </a:solidFill>
          <a:ln w="15240">
            <a:solidFill>
              <a:srgbClr val="FFD08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25400" dir="2700000">
              <a:srgbClr val="FFD08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" y="30906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D08A"/>
          </a:solidFill>
          <a:ln w="12700">
            <a:solidFill>
              <a:srgbClr val="FFD0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שידור חי חכם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" y="38039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חדר שידור semi-automatic עם גרפיקות per-שיעור, Timeline אוטומטי, ושבי עוזר השידור.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3A8EE">
              <a:alpha val="18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6C99A">
              <a:alpha val="15000"/>
            </a:srgbClr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הגנת IP ואבטחה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A7A92"/>
                </a:solidFill>
              </a:rPr>
              <a:t>שכבות ההגנה על תוכן הקורסים ועל הגישה למערכת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170432"/>
            <a:ext cx="27432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0" y="1335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91072" y="1737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2FA מחייב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91072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7A7A92"/>
                </a:solidFill>
              </a:rPr>
              <a:t>כניסה דו-שלבית חובה לכל משתמש — 6 תיבות קוד + מייל. מונעת שיתוף סיסמאות.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7432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35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737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Signed URLs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7A7A92"/>
                </a:solidFill>
              </a:rPr>
              <a:t>כל סרטון מוגש דרך URL שפג תוקף תוך דקות. הורדה ישירה בלתי אפשרית.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170432"/>
            <a:ext cx="27432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335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1737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Dynamic Watermark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7A7A92"/>
                </a:solidFill>
              </a:rPr>
              <a:t>שם התלמיד + מייל + timestamp מוטמעים בכל וידאו. כל דליפה ניתנת לאיתור.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7432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29077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D08A"/>
          </a:solidFill>
          <a:ln w="12700">
            <a:solidFill>
              <a:srgbClr val="FFD08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Session Control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7A7A92"/>
                </a:solidFill>
              </a:rPr>
              <a:t>מגבלת מכשירים פעילים per-user. ניתן ל-kick session מרחוק ממסך ה-Security.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743200"/>
            <a:ext cx="27432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29077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AES-256 Storage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64992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7A7A92"/>
                </a:solidFill>
              </a:rPr>
              <a:t>כל נכסי הקורס מוצפנים at-rest. גישה דרך Gateway מאמת בלבד.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27432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9077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B8C8"/>
          </a:solidFill>
          <a:ln w="12700">
            <a:solidFill>
              <a:srgbClr val="F5B8C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Audit Log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7A7A92"/>
                </a:solidFill>
              </a:rPr>
              <a:t>כל פעולה נרשמת ב-DB נפרד. Dashboard מנהל + Incident Response Agents אוטומטיים.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3A8EE">
              <a:alpha val="18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6C99A">
              <a:alpha val="15000"/>
            </a:srgbClr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מודל עסקי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A7A92"/>
                </a:solidFill>
              </a:rPr>
              <a:t>מנוי חודשי per-תלמיד · הכנסה חוזרת · Enterprise B2B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651760" cy="3584448"/>
          </a:xfrm>
          <a:prstGeom prst="roundRect">
            <a:avLst>
              <a:gd name="adj" fmla="val 4828"/>
            </a:avLst>
          </a:prstGeom>
          <a:solidFill>
            <a:srgbClr val="EFF6FF"/>
          </a:solidFill>
          <a:ln w="12700">
            <a:solidFill>
              <a:srgbClr val="A7BCF5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261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Basic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4338CA"/>
                </a:solidFill>
              </a:rPr>
              <a:t>₪149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7A92"/>
                </a:solidFill>
              </a:rPr>
              <a:t>לחודש / תלמיד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2286000" cy="0"/>
          </a:xfrm>
          <a:prstGeom prst="line">
            <a:avLst/>
          </a:prstGeom>
          <a:noFill/>
          <a:ln w="7620">
            <a:solidFill>
              <a:srgbClr val="A7BCF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88336" y="2395728"/>
            <a:ext cx="128016" cy="12801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קורס אחד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88336" y="2779776"/>
            <a:ext cx="128016" cy="12801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43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Dashboard מלא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88336" y="3163824"/>
            <a:ext cx="128016" cy="12801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27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2FA + מבחנים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88336" y="3547872"/>
            <a:ext cx="128016" cy="12801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5112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תמיכה במייל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18688" y="1115568"/>
            <a:ext cx="2651760" cy="3584448"/>
          </a:xfrm>
          <a:prstGeom prst="roundRect">
            <a:avLst>
              <a:gd name="adj" fmla="val 4828"/>
            </a:avLst>
          </a:prstGeom>
          <a:solidFill>
            <a:srgbClr val="EEF2FF"/>
          </a:solidFill>
          <a:ln w="25400">
            <a:solidFill>
              <a:srgbClr val="9FB4F5"/>
            </a:solidFill>
            <a:prstDash val="solid"/>
          </a:ln>
          <a:effectLst>
            <a:outerShdw sx="100000" sy="100000" kx="0" ky="0" algn="bl" rotWithShape="0" blurRad="254000" dist="50800" dir="2700000">
              <a:srgbClr val="312E81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21608" y="10515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מומלץ 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1261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Pro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01568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9FB4F5"/>
                </a:solidFill>
              </a:rPr>
              <a:t>₪289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01568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7A92"/>
                </a:solidFill>
              </a:rPr>
              <a:t>לחודש / תלמיד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286000"/>
            <a:ext cx="2286000" cy="0"/>
          </a:xfrm>
          <a:prstGeom prst="line">
            <a:avLst/>
          </a:prstGeom>
          <a:noFill/>
          <a:ln w="7620">
            <a:solidFill>
              <a:srgbClr val="9FB4F5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22976" y="2395728"/>
            <a:ext cx="128016" cy="128016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קורסים ללא הגבלה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22976" y="2779776"/>
            <a:ext cx="128016" cy="128016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743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Studio AI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22976" y="3163824"/>
            <a:ext cx="128016" cy="128016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127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Live broadcasts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22976" y="3547872"/>
            <a:ext cx="128016" cy="128016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35112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שבי Assistant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22976" y="3931920"/>
            <a:ext cx="128016" cy="128016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8953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Teams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1115568"/>
            <a:ext cx="2651760" cy="3584448"/>
          </a:xfrm>
          <a:prstGeom prst="roundRect">
            <a:avLst>
              <a:gd name="adj" fmla="val 4828"/>
            </a:avLst>
          </a:prstGeom>
          <a:solidFill>
            <a:srgbClr val="F5F3FF"/>
          </a:solidFill>
          <a:ln w="12700">
            <a:solidFill>
              <a:srgbClr val="C3A8EE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36208" y="1261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36208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C3A8EE"/>
                </a:solidFill>
              </a:rPr>
              <a:t>מחיר מותאם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236208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7A92"/>
                </a:solidFill>
              </a:rPr>
              <a:t>per-ארגון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2286000"/>
            <a:ext cx="2286000" cy="0"/>
          </a:xfrm>
          <a:prstGeom prst="line">
            <a:avLst/>
          </a:prstGeom>
          <a:noFill/>
          <a:ln w="7620">
            <a:solidFill>
              <a:srgbClr val="C3A8EE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7616" y="2395728"/>
            <a:ext cx="128016" cy="128016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White Label מלא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57616" y="2779776"/>
            <a:ext cx="128016" cy="128016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2743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Single Sign-On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57616" y="3163824"/>
            <a:ext cx="128016" cy="128016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3127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SLA + תמיכה 24/7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57616" y="3547872"/>
            <a:ext cx="128016" cy="128016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5112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Tranzila חיוב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57616" y="3931920"/>
            <a:ext cx="128016" cy="128016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8953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Custom DRM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3A8EE">
              <a:alpha val="18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6C99A">
              <a:alpha val="15000"/>
            </a:srgbClr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מפת דרכים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A7A92"/>
                </a:solidFill>
              </a:rPr>
              <a:t>מה בנוי, מה בבנייה, ומה בתכנון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8046720" cy="0"/>
          </a:xfrm>
          <a:prstGeom prst="line">
            <a:avLst/>
          </a:prstGeom>
          <a:noFill/>
          <a:ln w="25400">
            <a:solidFill>
              <a:srgbClr val="9FB4F5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212848"/>
            <a:ext cx="384048" cy="38404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8755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312E8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078992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0789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בנוי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7512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Q1–Q2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21 מסכי ה-UI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System Dashboard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Instructor Console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Security + DRM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Studio AI Pipeline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07208" y="2999232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626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21 מסכי ה-UI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07208" y="3291840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552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System Dashboard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07208" y="3584448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478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Instructor Console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07208" y="3877056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40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Security + DRM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07208" y="4169664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33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Studio AI Pipeline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2212848"/>
            <a:ext cx="384048" cy="384048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98755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312E8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93592" y="1078992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10789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🔨 בבנייה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93592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Q3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93592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The House Hub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Zoom-in Navigation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Auth Backend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Supabase Integration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2FA Full Flow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29000" y="28803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33288" y="2999232"/>
            <a:ext cx="109728" cy="109728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29626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The House Hub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33288" y="3291840"/>
            <a:ext cx="109728" cy="109728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2552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Zoom-in Navigation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33288" y="3584448"/>
            <a:ext cx="109728" cy="109728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5478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Auth Backend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33288" y="3877056"/>
            <a:ext cx="109728" cy="109728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3840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Supabase Integration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733288" y="4169664"/>
            <a:ext cx="109728" cy="109728"/>
          </a:xfrm>
          <a:prstGeom prst="ellipse">
            <a:avLst/>
          </a:prstGeom>
          <a:solidFill>
            <a:srgbClr val="9FB4F5"/>
          </a:solidFill>
          <a:ln w="12700">
            <a:solidFill>
              <a:srgbClr val="9FB4F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4133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2FA Full Flow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60920" y="2212848"/>
            <a:ext cx="384048" cy="384048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98755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312E81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19672" y="1078992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10789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בתכנון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19672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Q4 2026+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9672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Mobile App (iOS)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Enterprise SSO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Video DRM (Widevine)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Payment (Tranzila)</a:t>
            </a: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7A7A92"/>
                </a:solidFill>
              </a:rPr>
              <a:t>Analytics Dashboard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55080" y="28803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312E81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59368" y="2999232"/>
            <a:ext cx="109728" cy="109728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29626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Mobile App (iOS)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59368" y="3291840"/>
            <a:ext cx="109728" cy="109728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2552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Enterprise SSO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59368" y="3584448"/>
            <a:ext cx="109728" cy="109728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35478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Video DRM (Widevine)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659368" y="3877056"/>
            <a:ext cx="109728" cy="109728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3840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Payment (Tranzila)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659368" y="4169664"/>
            <a:ext cx="109728" cy="109728"/>
          </a:xfrm>
          <a:prstGeom prst="ellipse">
            <a:avLst/>
          </a:prstGeom>
          <a:solidFill>
            <a:srgbClr val="C3A8EE"/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4133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E2E48"/>
                </a:solidFill>
              </a:rPr>
              <a:t>Analytics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338CA">
              <a:alpha val="35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C3A8EE">
              <a:alpha val="20000"/>
            </a:srgbClr>
          </a:solidFill>
          <a:ln w="12700">
            <a:solidFill>
              <a:srgbClr val="C3A8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457200"/>
            <a:ext cx="3840480" cy="4224528"/>
          </a:xfrm>
          <a:prstGeom prst="roundRect">
            <a:avLst>
              <a:gd name="adj" fmla="val 4286"/>
            </a:avLst>
          </a:prstGeom>
          <a:solidFill>
            <a:srgbClr val="312E81">
              <a:alpha val="85000"/>
            </a:srgbClr>
          </a:solidFill>
          <a:ln w="12700">
            <a:solidFill>
              <a:srgbClr val="9FB4F5">
                <a:alpha val="50000"/>
              </a:srgbClr>
            </a:solidFill>
            <a:prstDash val="solid"/>
          </a:ln>
          <a:effectLst>
            <a:outerShdw sx="100000" sy="100000" kx="0" ky="0" algn="bl" rotWithShape="0" blurRad="304800" dist="38100" dir="2700000">
              <a:srgbClr val="9FB4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89320" y="777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הצעד הבא 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0" y="17739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4F5"/>
                </a:solidFill>
              </a:rPr>
              <a:t>The House Hub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03520" y="2286000"/>
            <a:ext cx="2834640" cy="0"/>
          </a:xfrm>
          <a:prstGeom prst="line">
            <a:avLst/>
          </a:prstGeom>
          <a:noFill/>
          <a:ln w="6350">
            <a:solidFill>
              <a:srgbClr val="9FB4F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2468880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41401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מרכז ניווט אימרסיבי — בית ויזואלי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47888" y="2807208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75234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Zoom-in animation לכל מסך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47888" y="3145536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9067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Pointer Parallax + Floating Orbs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47888" y="3483864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42900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Routing חכם לפי תפקיד משתמש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47888" y="3822192"/>
            <a:ext cx="109728" cy="109728"/>
          </a:xfrm>
          <a:prstGeom prst="ellipse">
            <a:avLst/>
          </a:prstGeom>
          <a:solidFill>
            <a:srgbClr val="46C99A"/>
          </a:solidFill>
          <a:ln w="12700">
            <a:solidFill>
              <a:srgbClr val="46C99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76732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4F5"/>
                </a:solidFill>
              </a:rPr>
              <a:t>Framer Motion · React + Vite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2700000">
              <a:srgbClr val="1E1B4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905" y="731520"/>
            <a:ext cx="261518" cy="0"/>
          </a:xfrm>
          <a:prstGeom prst="line">
            <a:avLst/>
          </a:prstGeom>
          <a:noFill/>
          <a:ln w="26416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" y="607527"/>
            <a:ext cx="0" cy="266273"/>
          </a:xfrm>
          <a:prstGeom prst="line">
            <a:avLst/>
          </a:prstGeom>
          <a:noFill/>
          <a:ln w="26416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754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בִּינָה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33856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9FB4F5"/>
                </a:solidFill>
              </a:rPr>
              <a:t>AI ACADEMY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417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מוכנים לשלב הבא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" y="19202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4F5"/>
                </a:solidFill>
              </a:rPr>
              <a:t>21 מסכים בנויים · UI מלא · תשתית מוכנה.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9FB4F5"/>
                </a:solidFill>
              </a:rPr>
              <a:t>הצעד הבא: Backend + The House Hub.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9FB4F5">
              <a:alpha val="25000"/>
            </a:srgbClr>
          </a:solidFill>
          <a:ln w="12700">
            <a:solidFill>
              <a:srgbClr val="9FB4F5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346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מלא — בקשו סיור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36499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46C99A">
              <a:alpha val="25000"/>
            </a:srgbClr>
          </a:solidFill>
          <a:ln w="12700">
            <a:solidFill>
              <a:srgbClr val="46C99A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649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הצעת שיתוף פעולה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95344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C3A8EE">
              <a:alpha val="25000"/>
            </a:srgbClr>
          </a:solidFill>
          <a:ln w="12700">
            <a:solidFill>
              <a:srgbClr val="C3A8EE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953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gur@agenthub.guru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בינה AI Academy — ישיבת דירקטוריון</dc:title>
  <dc:subject>PptxGenJS Presentation</dc:subject>
  <dc:creator>בינה AI Academy</dc:creator>
  <cp:lastModifiedBy>בינה AI Academy</cp:lastModifiedBy>
  <cp:revision>1</cp:revision>
  <dcterms:created xsi:type="dcterms:W3CDTF">2026-06-25T23:02:58Z</dcterms:created>
  <dcterms:modified xsi:type="dcterms:W3CDTF">2026-06-25T23:02:58Z</dcterms:modified>
</cp:coreProperties>
</file>